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32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C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F1 RACE INTELLIGENCE</a:t>
            </a:r>
          </a:p>
          <a:p>
            <a:pPr>
              <a:defRPr sz="2200">
                <a:solidFill>
                  <a:srgbClr val="DC232D"/>
                </a:solidFill>
              </a:defRPr>
            </a:pPr>
            <a:r>
              <a:t>TABLEAU DASHBOARD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749039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1E6EC"/>
                </a:solidFill>
              </a:defRPr>
            </a:pPr>
            <a:r>
              <a:t>Project overview • Data mapping • Dashboard design • Repository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C232D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A Tableau workbook for exploring race performance and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241"/>
                </a:solidFill>
              </a:defRPr>
            </a:pPr>
            <a:r>
              <a:t>An interactive Tableau project for exploring Formula 1 race results, constructor performance, tyre-compound outcomes, driver podiums, and race reliability using the supplied dataset.</a:t>
            </a:r>
          </a:p>
          <a:p>
            <a:pPr>
              <a:spcAft>
                <a:spcPts val="1300"/>
              </a:spcAft>
              <a:defRPr sz="2000">
                <a:solidFill>
                  <a:srgbClr val="283241"/>
                </a:solidFill>
              </a:defRPr>
            </a:pPr>
            <a:r>
              <a:t>Two dashboards bring together constructor trends, tyre outcomes, driver points, podiums, and DNF patterns.</a:t>
            </a:r>
          </a:p>
          <a:p>
            <a:pPr>
              <a:spcAft>
                <a:spcPts val="1300"/>
              </a:spcAft>
              <a:defRPr sz="2000">
                <a:solidFill>
                  <a:srgbClr val="283241"/>
                </a:solidFill>
              </a:defRPr>
            </a:pPr>
            <a:r>
              <a:t>Designed to be packaged with supporting data and documentation in a GitHub repository.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C232D"/>
                </a:solidFill>
              </a:defRPr>
            </a:pPr>
            <a:r>
              <a:t>Dataset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Source workbook: F1 Racing Project Dataset.xlsx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256032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78308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DC232D"/>
                </a:solidFill>
              </a:defRPr>
            </a:pPr>
            <a:r>
              <a:t>6,464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83241"/>
                </a:solidFill>
              </a:defRPr>
            </a:pPr>
            <a:r>
              <a:t>Race results rows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554480"/>
            <a:ext cx="256032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75887" y="178308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DC232D"/>
                </a:solidFill>
              </a:defRPr>
            </a:pPr>
            <a:r>
              <a:t>334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4231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83241"/>
                </a:solidFill>
              </a:defRPr>
            </a:pPr>
            <a:r>
              <a:t>Unique race events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554480"/>
            <a:ext cx="256032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78308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DC232D"/>
                </a:solidFill>
              </a:defRPr>
            </a:pPr>
            <a:r>
              <a:t>2010–2026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4231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83241"/>
                </a:solidFill>
              </a:defRPr>
            </a:pPr>
            <a:r>
              <a:t>Season coverage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1554480"/>
            <a:ext cx="2560320" cy="1508760"/>
          </a:xfrm>
          <a:prstGeom prst="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36607" y="178308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DC232D"/>
                </a:solidFill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19" y="24231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83241"/>
                </a:solidFill>
              </a:defRPr>
            </a:pPr>
            <a:r>
              <a:t>Source worksheets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57600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83241"/>
                </a:solidFill>
              </a:defRPr>
            </a:pPr>
            <a:r>
              <a:t>race_results: 6,464 rows</a:t>
            </a:r>
          </a:p>
          <a:p>
            <a:pPr>
              <a:spcAft>
                <a:spcPts val="1300"/>
              </a:spcAft>
              <a:defRPr sz="1700">
                <a:solidFill>
                  <a:srgbClr val="283241"/>
                </a:solidFill>
              </a:defRPr>
            </a:pPr>
            <a:r>
              <a:t>championship_standings: 311 rows • lap_intelligence: 3,814 rows</a:t>
            </a:r>
          </a:p>
          <a:p>
            <a:pPr>
              <a:spcAft>
                <a:spcPts val="1300"/>
              </a:spcAft>
              <a:defRPr sz="1700">
                <a:solidFill>
                  <a:srgbClr val="283241"/>
                </a:solidFill>
              </a:defRPr>
            </a:pPr>
            <a:r>
              <a:t>qualifying_results: 3,130 rows • circuits: 29 rows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C232D"/>
                </a:solidFill>
              </a:defRPr>
            </a:pPr>
            <a:r>
              <a:t>Dashboard 1 — F1 Race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Performance trends and race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83241"/>
                </a:solidFill>
              </a:defRPr>
            </a:pPr>
            <a:r>
              <a:t>Constructor Points Trend: points by season and team.</a:t>
            </a:r>
          </a:p>
          <a:p>
            <a:pPr>
              <a:spcAft>
                <a:spcPts val="1300"/>
              </a:spcAft>
              <a:defRPr sz="2100">
                <a:solidFill>
                  <a:srgbClr val="283241"/>
                </a:solidFill>
              </a:defRPr>
            </a:pPr>
            <a:r>
              <a:t>Tyre Compound Outcomes: points by starting tyre compound, segmented by circuit type.</a:t>
            </a:r>
          </a:p>
          <a:p>
            <a:pPr>
              <a:spcAft>
                <a:spcPts val="1300"/>
              </a:spcAft>
              <a:defRPr sz="2100">
                <a:solidFill>
                  <a:srgbClr val="283241"/>
                </a:solidFill>
              </a:defRPr>
            </a:pPr>
            <a:r>
              <a:t>DNF Reasons by Team: retirements grouped by team and reason.</a:t>
            </a:r>
          </a:p>
          <a:p>
            <a:pPr>
              <a:spcAft>
                <a:spcPts val="1300"/>
              </a:spcAft>
              <a:defRPr sz="2100">
                <a:solidFill>
                  <a:srgbClr val="283241"/>
                </a:solidFill>
              </a:defRPr>
            </a:pPr>
            <a:r>
              <a:t>Podiums by Driver: podium finishes by driver.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C232D"/>
                </a:solidFill>
              </a:defRPr>
            </a:pPr>
            <a:r>
              <a:t>Dashboard 2 — Broadcast &amp;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Driver standings and race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83241"/>
                </a:solidFill>
              </a:defRPr>
            </a:pPr>
            <a:r>
              <a:t>Driver Points Leaderboard: total points by driver.</a:t>
            </a:r>
          </a:p>
          <a:p>
            <a:pPr>
              <a:spcAft>
                <a:spcPts val="1300"/>
              </a:spcAft>
              <a:defRPr sz="2100">
                <a:solidFill>
                  <a:srgbClr val="283241"/>
                </a:solidFill>
              </a:defRPr>
            </a:pPr>
            <a:r>
              <a:t>Grand Prix Hosts by Country: distinct race-event count by country.</a:t>
            </a:r>
          </a:p>
          <a:p>
            <a:pPr>
              <a:spcAft>
                <a:spcPts val="1300"/>
              </a:spcAft>
              <a:defRPr sz="2100">
                <a:solidFill>
                  <a:srgbClr val="283241"/>
                </a:solidFill>
              </a:defRPr>
            </a:pPr>
            <a:r>
              <a:t>Driver Reliability by Driver: average DNF flag as a row-level reliability proxy.</a:t>
            </a:r>
          </a:p>
          <a:p>
            <a:pPr>
              <a:spcAft>
                <a:spcPts val="1300"/>
              </a:spcAft>
              <a:defRPr sz="2100">
                <a:solidFill>
                  <a:srgbClr val="283241"/>
                </a:solidFill>
              </a:defRPr>
            </a:pPr>
            <a:r>
              <a:t>Podiums by Driver: podium finishes by driver.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C232D"/>
                </a:solidFill>
              </a:defRPr>
            </a:pPr>
            <a:r>
              <a:t>Data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Dashboard-ready fields are derived from the supplied race_results tab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25880"/>
          <a:ext cx="1092708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641080"/>
              </a:tblGrid>
              <a:tr h="4983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Dashboard field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Source / rule</a:t>
                      </a:r>
                    </a:p>
                  </a:txBody>
                  <a:tcPr>
                    <a:solidFill>
                      <a:srgbClr val="283241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</a:defRPr>
                      </a:pPr>
                      <a:r>
                        <a:t>Race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</a:defRPr>
                      </a:pPr>
                      <a:r>
                        <a:t>race_id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</a:defRPr>
                      </a:pPr>
                      <a:r>
                        <a:t>Grand Prix / Circuit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</a:defRPr>
                      </a:pPr>
                      <a:r>
                        <a:t>circuit_name (venue/circuit name supplied in source)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</a:defRPr>
                      </a:pPr>
                      <a:r>
                        <a:t>Circuit Country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</a:defRPr>
                      </a:pPr>
                      <a:r>
                        <a:t>Circuit Type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</a:defRPr>
                      </a:pPr>
                      <a:r>
                        <a:t>circuit_type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</a:defRPr>
                      </a:pPr>
                      <a:r>
                        <a:t>Tyre Compound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</a:defRPr>
                      </a:pPr>
                      <a:r>
                        <a:t>starting_compound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</a:defRPr>
                      </a:pPr>
                      <a:r>
                        <a:t>Podium Flag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</a:defRPr>
                      </a:pPr>
                      <a:r>
                        <a:t>1 when finish_position is 1, 2, or 3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</a:defRPr>
                      </a:pPr>
                      <a:r>
                        <a:t>Winner 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</a:defRPr>
                      </a:pPr>
                      <a:r>
                        <a:t>1 when finish_position is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</a:defRPr>
                      </a:pPr>
                      <a:r>
                        <a:t>DNF Flag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</a:defRPr>
                      </a:pPr>
                      <a:r>
                        <a:t>dnf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</a:defRPr>
                      </a:pPr>
                      <a:r>
                        <a:t>DNF when dnf = 1; otherwise Finished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C232D"/>
                </a:solidFill>
              </a:defRPr>
            </a:pPr>
            <a:r>
              <a:t>Limitations &amp;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Important context for responsible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83241"/>
                </a:solidFill>
              </a:defRPr>
            </a:pPr>
            <a:r>
              <a:t>Driver nationality and team nationality are not supplied in the uploaded workbook; nationality fields are left blank and are not used in the dashboards.</a:t>
            </a:r>
          </a:p>
          <a:p>
            <a:pPr>
              <a:spcAft>
                <a:spcPts val="1300"/>
              </a:spcAft>
              <a:defRPr sz="1700">
                <a:solidFill>
                  <a:srgbClr val="283241"/>
                </a:solidFill>
              </a:defRPr>
            </a:pPr>
            <a:r>
              <a:t>The mapped Grand Prix label uses circuit_name because the source does not provide a separate official event-name field.</a:t>
            </a:r>
          </a:p>
          <a:p>
            <a:pPr>
              <a:spcAft>
                <a:spcPts val="1300"/>
              </a:spcAft>
              <a:defRPr sz="1700">
                <a:solidFill>
                  <a:srgbClr val="283241"/>
                </a:solidFill>
              </a:defRPr>
            </a:pPr>
            <a:r>
              <a:t>Driver reliability is shown as an average of the DNF flag, so interpret it as a row-level DNF-rate proxy.</a:t>
            </a:r>
          </a:p>
          <a:p>
            <a:pPr>
              <a:spcAft>
                <a:spcPts val="1300"/>
              </a:spcAft>
              <a:defRPr sz="1700">
                <a:solidFill>
                  <a:srgbClr val="283241"/>
                </a:solidFill>
              </a:defRPr>
            </a:pPr>
            <a:r>
              <a:t>The workbook XML and packaged ZIP structure were checked, but interactive rendering should still be confirmed in Tableau Desktop.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C232D"/>
                </a:solidFill>
              </a:defRPr>
            </a:pPr>
            <a:r>
              <a:t>Open &amp; Share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Suggested workflow for Tableau and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83241"/>
                </a:solidFill>
              </a:defRPr>
            </a:pPr>
            <a:r>
              <a:t>Clone or download the repository with the .twbx workbook and supporting files.</a:t>
            </a:r>
          </a:p>
          <a:p>
            <a:pPr>
              <a:spcAft>
                <a:spcPts val="1300"/>
              </a:spcAft>
              <a:defRPr sz="1800">
                <a:solidFill>
                  <a:srgbClr val="283241"/>
                </a:solidFill>
              </a:defRPr>
            </a:pPr>
            <a:r>
              <a:t>Open the packaged workbook in Tableau Desktop using File &gt; Open.</a:t>
            </a:r>
          </a:p>
          <a:p>
            <a:pPr>
              <a:spcAft>
                <a:spcPts val="1300"/>
              </a:spcAft>
              <a:defRPr sz="1800">
                <a:solidFill>
                  <a:srgbClr val="283241"/>
                </a:solidFill>
              </a:defRPr>
            </a:pPr>
            <a:r>
              <a:t>If prompted, allow an upgrade and confirm the packaged CSV connection is available.</a:t>
            </a:r>
          </a:p>
          <a:p>
            <a:pPr>
              <a:spcAft>
                <a:spcPts val="1300"/>
              </a:spcAft>
              <a:defRPr sz="1800">
                <a:solidFill>
                  <a:srgbClr val="283241"/>
                </a:solidFill>
              </a:defRPr>
            </a:pPr>
            <a:r>
              <a:t>Check that all worksheets and dashboards render, then save a local copy.</a:t>
            </a:r>
          </a:p>
          <a:p>
            <a:pPr>
              <a:spcAft>
                <a:spcPts val="1300"/>
              </a:spcAft>
              <a:defRPr sz="1800">
                <a:solidFill>
                  <a:srgbClr val="283241"/>
                </a:solidFill>
              </a:defRPr>
            </a:pPr>
            <a:r>
              <a:t>Include PPTX, PDF, DOCX, and a concise README.md alongside the workbook.</a:t>
            </a:r>
          </a:p>
          <a:p>
            <a:pPr>
              <a:spcAft>
                <a:spcPts val="1300"/>
              </a:spcAft>
              <a:defRPr sz="1800">
                <a:solidFill>
                  <a:srgbClr val="283241"/>
                </a:solidFill>
              </a:defRPr>
            </a:pPr>
            <a:r>
              <a:t>Only publish source data publicly if you have permission to redistribute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